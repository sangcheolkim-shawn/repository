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[보고] CMS 고도화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콘텐츠 관리 업무 환경 개선 보고서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solidFill>
            <a:srgbClr val="0071E3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"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콘텐츠는 CMS 하나에서, 서비스 연결은 클릭 한 번으로</a:t>
            </a:r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2026.04 | 플랫폼기획팀 | Shawn (김상철)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71E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005840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현황 분석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5개 시스템, 681개+ 과목코드 — 현재 업무 환경의 어려움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74904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320040" cy="32004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4630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같은 콘텐츠를 여러 번 등록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1920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1건 콘텐츠 → 4~5개 시스템에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각각 등록 (코드·방식 상이)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374904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463040"/>
            <a:ext cx="320040" cy="32004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②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시스템마다 다른 이름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937760" y="1920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수백 개 코드가 시스템별로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다른 명칭 → 소통 혼선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108960"/>
            <a:ext cx="374904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31520" y="3291840"/>
            <a:ext cx="320040" cy="32004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20" name="Text 16"/>
          <p:cNvSpPr/>
          <p:nvPr/>
        </p:nvSpPr>
        <p:spPr>
          <a:xfrm>
            <a:off x="73152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③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2918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3273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종료된 제품 미정리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2296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ND 종료 코드가 SJ·학습관에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활성 상태로 잔존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663440" y="3108960"/>
            <a:ext cx="374904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46320" y="3291840"/>
            <a:ext cx="320040" cy="320040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26" name="Text 21"/>
          <p:cNvSpPr/>
          <p:nvPr/>
        </p:nvSpPr>
        <p:spPr>
          <a:xfrm>
            <a:off x="484632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④</a:t>
            </a:r>
            <a:endParaRPr lang="en-US" sz="1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29184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69280" y="3273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현황 파악에 시간 소요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93776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4개 시스템 담당자에게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개별 요청 → 취합 → 대조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48640" y="4572000"/>
            <a:ext cx="804672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48640" y="45720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681개 과목코드 × 5개 시스템 = 관리 복잡도가 곱셈으로 증가하는 구조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280160" cy="256032"/>
          </a:xfrm>
          <a:prstGeom prst="rect">
            <a:avLst/>
          </a:prstGeom>
          <a:solidFill>
            <a:srgbClr val="FFF8F0"/>
          </a:solidFill>
          <a:ln w="12700">
            <a:solidFill>
              <a:srgbClr val="FFD9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5C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고도화 필요성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현행 유지 시 가속되는 운영·개발 비용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3B3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콘텐츠 운영 관점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반복 등록 비용 누적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과목코드 1건당 4~5회 등록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신규 시스템 추가 시 곱셈 증가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소통 비용 구조적 증가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6012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681개+ 코드 × 시스템별 다른 명칭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신규 온보딩 시 5개 코드체계 학습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0332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불일치 리스크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6012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종료 코드 잔존 → 서비스 품질 이슈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사후 정리 비용 &gt;&gt; 사전 예방 비용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0" y="1280160"/>
            <a:ext cx="0" cy="338328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9" name="Text 14"/>
          <p:cNvSpPr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개발·시스템 관점</a:t>
            </a:r>
            <a:endParaRPr lang="en-US" sz="13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83080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기술 부채 누적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16636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중단 솔루션 위 기능 적재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요구사항 반영 시간 점점 증가</a:t>
            </a:r>
            <a:endParaRPr lang="en-US" sz="1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743200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6636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1:1 구조 확장 한계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16636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과목코드·콘텐츠 1:1 결합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1:N 제공 구조적 불가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703320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6636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신규 서비스 대응 비용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16636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연동 요청마다 전용 개발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개발팀 반복 대응 공수 발생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2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시간이 지날수록 해결 비용이 높아지는 구조 — 지금이 추진 최적의 타이밍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005840" cy="256032"/>
          </a:xfrm>
          <a:prstGeom prst="rect">
            <a:avLst/>
          </a:prstGeom>
          <a:solidFill>
            <a:srgbClr val="E8F2FF"/>
          </a:solidFill>
          <a:ln w="12700">
            <a:solidFill>
              <a:srgbClr val="B3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변화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콘텐츠 독립성 — 과목코드와 콘텐츠를 분리합니다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31920" cy="3383280"/>
          </a:xfrm>
          <a:prstGeom prst="rect">
            <a:avLst/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3931920" cy="36576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AS-IS (현행) — 과목코드 종속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828800"/>
            <a:ext cx="1737360" cy="365760"/>
          </a:xfrm>
          <a:prstGeom prst="rect">
            <a:avLst/>
          </a:prstGeom>
          <a:solidFill>
            <a:srgbClr val="FFF8F0"/>
          </a:solidFill>
          <a:ln w="12700">
            <a:solidFill>
              <a:srgbClr val="FFD9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5C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 (수학) — 과목코드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2194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366"/>
                </a:solidFill>
              </a:rPr>
              <a:t>↓ 종속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468880"/>
            <a:ext cx="100584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68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3B3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ANS 해답지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0" y="2468880"/>
            <a:ext cx="100584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468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3B3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CBT 자동채점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71800" y="2468880"/>
            <a:ext cx="100584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468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3B3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STDG 영상강의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97280" y="2880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366"/>
                </a:solidFill>
              </a:rPr>
              <a:t>↓ 직접 연결 (1:1)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63040" y="3154680"/>
            <a:ext cx="1737360" cy="320040"/>
          </a:xfrm>
          <a:prstGeom prst="rect">
            <a:avLst/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콘텐츠 (과목에 고정)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B3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✕ 1:1 고정 — 재사용 불가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B3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✕ 과목30 × 유형10 = 300개 조합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B3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✕ 외부 제공 시 전용 개발 필요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234440"/>
            <a:ext cx="3931920" cy="3383280"/>
          </a:xfrm>
          <a:prstGeom prst="rect">
            <a:avLst/>
          </a:prstGeom>
          <a:solidFill>
            <a:srgbClr val="F0FFF4"/>
          </a:solidFill>
          <a:ln w="19050">
            <a:solidFill>
              <a:srgbClr val="A8E6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234440"/>
            <a:ext cx="3931920" cy="36576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TO-BE (신규) — 콘텐츠 독립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120640" y="1828800"/>
            <a:ext cx="1371600" cy="365760"/>
          </a:xfrm>
          <a:prstGeom prst="rect">
            <a:avLst/>
          </a:prstGeom>
          <a:solidFill>
            <a:srgbClr val="F9F0FF"/>
          </a:solidFill>
          <a:ln w="12700">
            <a:solidFill>
              <a:srgbClr val="D9B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944A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 양식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366"/>
                </a:solidFill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858000" y="1828800"/>
            <a:ext cx="1371600" cy="365760"/>
          </a:xfrm>
          <a:prstGeom prst="rect">
            <a:avLst/>
          </a:prstGeom>
          <a:solidFill>
            <a:srgbClr val="E8F2FF"/>
          </a:solidFill>
          <a:ln w="12700">
            <a:solidFill>
              <a:srgbClr val="B3D7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커리큘럼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2194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366"/>
                </a:solidFill>
              </a:rPr>
              <a:t>↓ 독립적 제작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2468880"/>
            <a:ext cx="1737360" cy="365760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8A3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콘텐츠 (독립 존재)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2834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366"/>
                </a:solidFill>
              </a:rPr>
              <a:t>↓ 나중에 연결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66360" y="3108960"/>
            <a:ext cx="1005840" cy="320040"/>
          </a:xfrm>
          <a:prstGeom prst="rect">
            <a:avLst/>
          </a:prstGeom>
          <a:solidFill>
            <a:srgbClr val="FFF8F0"/>
          </a:solidFill>
          <a:ln w="12700">
            <a:solidFill>
              <a:srgbClr val="FFD9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5C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 수학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3108960"/>
            <a:ext cx="1005840" cy="320040"/>
          </a:xfrm>
          <a:prstGeom prst="rect">
            <a:avLst/>
          </a:prstGeom>
          <a:solidFill>
            <a:srgbClr val="FFF8F0"/>
          </a:solidFill>
          <a:ln w="12700">
            <a:solidFill>
              <a:srgbClr val="FFD9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5C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 영어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52360" y="3108960"/>
            <a:ext cx="1005840" cy="320040"/>
          </a:xfrm>
          <a:prstGeom prst="rect">
            <a:avLst/>
          </a:prstGeom>
          <a:solidFill>
            <a:srgbClr val="FFF8F0"/>
          </a:solidFill>
          <a:ln w="12700">
            <a:solidFill>
              <a:srgbClr val="FFD9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5C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외부A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20640" y="3657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8A3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N:M 연결 — 원소스 멀티유즈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8A3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양식 재사용 — 중복 설정 제거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4206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8A3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외부 확장 — 연결 설정만으로 제공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18872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8A3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업무 프로세스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새로운 4단계 업무 흐름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1691640" cy="1371600"/>
          </a:xfrm>
          <a:prstGeom prst="rect">
            <a:avLst/>
          </a:prstGeom>
          <a:solidFill>
            <a:srgbClr val="F9F0FF"/>
          </a:solidFill>
          <a:ln w="19050">
            <a:solidFill>
              <a:srgbClr val="D9B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320040" cy="320040"/>
          </a:xfrm>
          <a:prstGeom prst="ellipse">
            <a:avLst/>
          </a:prstGeom>
          <a:solidFill>
            <a:srgbClr val="8944A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①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4630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44A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양식 준비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37260" y="2286000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B3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7260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944A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관리자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286000" y="1783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366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514600" y="1325880"/>
            <a:ext cx="1691640" cy="1371600"/>
          </a:xfrm>
          <a:prstGeom prst="rect">
            <a:avLst/>
          </a:prstGeom>
          <a:solidFill>
            <a:srgbClr val="E8F2FF"/>
          </a:solidFill>
          <a:ln w="19050">
            <a:solidFill>
              <a:srgbClr val="B3D7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51760" y="1463040"/>
            <a:ext cx="320040" cy="32004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6" name="Text 13"/>
          <p:cNvSpPr/>
          <p:nvPr/>
        </p:nvSpPr>
        <p:spPr>
          <a:xfrm>
            <a:off x="265176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②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46304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0604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커리큘럼 구성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857500" y="2286000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3D7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857500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관리자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206240" y="1783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366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434840" y="1325880"/>
            <a:ext cx="1691640" cy="1371600"/>
          </a:xfrm>
          <a:prstGeom prst="rect">
            <a:avLst/>
          </a:prstGeom>
          <a:solidFill>
            <a:srgbClr val="F0FFF4"/>
          </a:solidFill>
          <a:ln w="19050">
            <a:solidFill>
              <a:srgbClr val="A8E6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72000" y="1463040"/>
            <a:ext cx="320040" cy="320040"/>
          </a:xfrm>
          <a:prstGeom prst="ellipse">
            <a:avLst/>
          </a:prstGeom>
          <a:solidFill>
            <a:srgbClr val="1B8A3E"/>
          </a:solidFill>
          <a:ln/>
        </p:spPr>
      </p:sp>
      <p:sp>
        <p:nvSpPr>
          <p:cNvPr id="24" name="Text 20"/>
          <p:cNvSpPr/>
          <p:nvPr/>
        </p:nvSpPr>
        <p:spPr>
          <a:xfrm>
            <a:off x="457200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③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304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52628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3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콘텐츠 등록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777740" y="2286000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B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777740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8A3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콘텐츠팀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126480" y="1783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366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6355080" y="1325880"/>
            <a:ext cx="1691640" cy="1371600"/>
          </a:xfrm>
          <a:prstGeom prst="rect">
            <a:avLst/>
          </a:prstGeom>
          <a:solidFill>
            <a:srgbClr val="FFF8F0"/>
          </a:solidFill>
          <a:ln w="19050">
            <a:solidFill>
              <a:srgbClr val="FFD9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492240" y="1463040"/>
            <a:ext cx="320040" cy="320040"/>
          </a:xfrm>
          <a:prstGeom prst="ellipse">
            <a:avLst/>
          </a:prstGeom>
          <a:solidFill>
            <a:srgbClr val="B35C00"/>
          </a:solidFill>
          <a:ln/>
        </p:spPr>
      </p:sp>
      <p:sp>
        <p:nvSpPr>
          <p:cNvPr id="32" name="Text 27"/>
          <p:cNvSpPr/>
          <p:nvPr/>
        </p:nvSpPr>
        <p:spPr>
          <a:xfrm>
            <a:off x="649224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④</a:t>
            </a:r>
            <a:endParaRPr lang="en-US" sz="13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463040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44652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5C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서비스 연결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6697980" y="2286000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D9A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697980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5C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관리자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240780" y="1188720"/>
            <a:ext cx="0" cy="1645920"/>
          </a:xfrm>
          <a:prstGeom prst="line">
            <a:avLst/>
          </a:prstGeom>
          <a:noFill/>
          <a:ln w="25400">
            <a:solidFill>
              <a:srgbClr val="FF3B30"/>
            </a:solidFill>
            <a:prstDash val="dash"/>
          </a:ln>
        </p:spPr>
      </p:sp>
      <p:sp>
        <p:nvSpPr>
          <p:cNvPr id="38" name="Text 32"/>
          <p:cNvSpPr/>
          <p:nvPr/>
        </p:nvSpPr>
        <p:spPr>
          <a:xfrm>
            <a:off x="5692140" y="10058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3B3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여기서 분리!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594360" y="2880360"/>
            <a:ext cx="5486400" cy="320040"/>
          </a:xfrm>
          <a:prstGeom prst="rect">
            <a:avLst/>
          </a:prstGeom>
          <a:solidFill>
            <a:srgbClr val="F9F0FF"/>
          </a:solidFill>
          <a:ln/>
        </p:spPr>
      </p:sp>
      <p:sp>
        <p:nvSpPr>
          <p:cNvPr id="40" name="Text 34"/>
          <p:cNvSpPr/>
          <p:nvPr/>
        </p:nvSpPr>
        <p:spPr>
          <a:xfrm>
            <a:off x="59436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944A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콘텐츠 제작 영역 — 과목코드를 전혀 모르는 상태에서 작업 가능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6309360" y="2880360"/>
            <a:ext cx="2331720" cy="32004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42" name="Text 36"/>
          <p:cNvSpPr/>
          <p:nvPr/>
        </p:nvSpPr>
        <p:spPr>
          <a:xfrm>
            <a:off x="630936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5C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서비스 연결 — 바인딩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548640" y="3474720"/>
            <a:ext cx="804672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A8E6B8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31520" y="3520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3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가장 큰 변화 : 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콘텐츠 실무 담당자 및 외주 인력은 ③번 단계에만 집중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사전 양식 설정, 서비스 연결, 배포는 관리자가 처리 → 콘텐츠 품질에만 집중할 수 있는 환경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548640" y="4297680"/>
            <a:ext cx="804672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731520" y="431596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유형을 커리큘럼에 통합 : </a:t>
            </a:r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과목 › 과정 › 세트 › </a:t>
            </a:r>
            <a:pPr indent="0" marL="0">
              <a:buNone/>
            </a:pPr>
            <a:r>
              <a:rPr lang="en-US" sz="1200" b="1" dirty="0">
                <a:solidFill>
                  <a:srgbClr val="8944A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유형</a:t>
            </a:r>
            <a:pPr indent="0" marL="0">
              <a:buNone/>
            </a:pPr>
            <a:r>
              <a:rPr lang="en-US" sz="11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› 콘텐츠  — 별도 연결 테이블 불필요, 관리 단순화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914400" cy="256032"/>
          </a:xfrm>
          <a:prstGeom prst="rect">
            <a:avLst/>
          </a:prstGeom>
          <a:solidFill>
            <a:srgbClr val="E8F2FF"/>
          </a:solidFill>
          <a:ln w="12700">
            <a:solidFill>
              <a:srgbClr val="B3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기대효과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업무 효율 개선 &amp; 사업 확장 기반 확보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828800" cy="1417320"/>
          </a:xfrm>
          <a:prstGeom prst="rect">
            <a:avLst/>
          </a:prstGeom>
          <a:solidFill>
            <a:srgbClr val="F0FFF4"/>
          </a:solidFill>
          <a:ln w="19050">
            <a:solidFill>
              <a:srgbClr val="A8E6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C75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반복 작업 감소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과목코드별 4~5회 → 1회 등록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2888" y="1234440"/>
            <a:ext cx="1828800" cy="1417320"/>
          </a:xfrm>
          <a:prstGeom prst="rect">
            <a:avLst/>
          </a:prstGeom>
          <a:solidFill>
            <a:srgbClr val="E8F2FF"/>
          </a:solidFill>
          <a:ln w="19050">
            <a:solidFill>
              <a:srgbClr val="B3D7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32888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1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32888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조율 시간 절감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32888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4개 시스템 개별 요청 → CMS 클릭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828800" cy="1417320"/>
          </a:xfrm>
          <a:prstGeom prst="rect">
            <a:avLst/>
          </a:prstGeom>
          <a:solidFill>
            <a:srgbClr val="F9F0FF"/>
          </a:solidFill>
          <a:ln w="19050">
            <a:solidFill>
              <a:srgbClr val="D9B3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944A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08576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분석 시간 절감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08576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시스템별 취합·대조 → 대시보드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84264" y="1234440"/>
            <a:ext cx="1828800" cy="1417320"/>
          </a:xfrm>
          <a:prstGeom prst="rect">
            <a:avLst/>
          </a:prstGeom>
          <a:solidFill>
            <a:srgbClr val="FFF8F0"/>
          </a:solidFill>
          <a:ln w="19050">
            <a:solidFill>
              <a:srgbClr val="FFD9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84264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35C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Zero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684264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이상 코드 제로화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84264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자동 상태 연동으로 불일치 제거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880360"/>
            <a:ext cx="38404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5EA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063240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9728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콘텐츠 품질 향상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97280" y="3227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실무자가 시스템 구조 대신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콘텐츠에만 집중하는 환경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17720" y="2880360"/>
            <a:ext cx="38404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5EA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063240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16636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원소스 멀티유즈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166360" y="3227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하나의 콘텐츠 → 자사+타사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연결 설정만으로 제공 (B2B 기반)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48640" y="3794760"/>
            <a:ext cx="38404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5EA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77640"/>
            <a:ext cx="320040" cy="3200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09728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운영 리스크 감소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1097280" y="4142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 불일치 구조적 방지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커뮤니케이션 기준 통일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617720" y="3794760"/>
            <a:ext cx="38404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5EA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977640"/>
            <a:ext cx="320040" cy="32004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16636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확장 가능한 구조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166360" y="4142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새 유형·서비스 추가 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설정만으로 대응 (전용 개발 불필요)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005840" cy="256032"/>
          </a:xfrm>
          <a:prstGeom prst="rect">
            <a:avLst/>
          </a:prstGeom>
          <a:solidFill>
            <a:srgbClr val="E8F2FF"/>
          </a:solidFill>
          <a:ln w="12700">
            <a:solidFill>
              <a:srgbClr val="B3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추진 전략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단계별 일정 및 현재 진행 상황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868680" cy="274320"/>
          </a:xfrm>
          <a:prstGeom prst="rect">
            <a:avLst/>
          </a:prstGeom>
          <a:solidFill>
            <a:srgbClr val="0071E3"/>
          </a:solidFill>
          <a:ln w="6350">
            <a:solidFill>
              <a:srgbClr val="E5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4월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08760" y="1280160"/>
            <a:ext cx="868680" cy="274320"/>
          </a:xfrm>
          <a:prstGeom prst="rect">
            <a:avLst/>
          </a:prstGeom>
          <a:solidFill>
            <a:srgbClr val="F5F5F7"/>
          </a:solidFill>
          <a:ln w="6350">
            <a:solidFill>
              <a:srgbClr val="E5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280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1280160"/>
            <a:ext cx="868680" cy="274320"/>
          </a:xfrm>
          <a:prstGeom prst="rect">
            <a:avLst/>
          </a:prstGeom>
          <a:solidFill>
            <a:srgbClr val="F5F5F7"/>
          </a:solidFill>
          <a:ln w="6350">
            <a:solidFill>
              <a:srgbClr val="E5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280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868680" cy="274320"/>
          </a:xfrm>
          <a:prstGeom prst="rect">
            <a:avLst/>
          </a:prstGeom>
          <a:solidFill>
            <a:srgbClr val="F5F5F7"/>
          </a:solidFill>
          <a:ln w="6350">
            <a:solidFill>
              <a:srgbClr val="E5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80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280160"/>
            <a:ext cx="868680" cy="274320"/>
          </a:xfrm>
          <a:prstGeom prst="rect">
            <a:avLst/>
          </a:prstGeom>
          <a:solidFill>
            <a:srgbClr val="F5F5F7"/>
          </a:solidFill>
          <a:ln w="6350">
            <a:solidFill>
              <a:srgbClr val="E5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280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280160"/>
            <a:ext cx="868680" cy="274320"/>
          </a:xfrm>
          <a:prstGeom prst="rect">
            <a:avLst/>
          </a:prstGeom>
          <a:solidFill>
            <a:srgbClr val="F5F5F7"/>
          </a:solidFill>
          <a:ln w="6350">
            <a:solidFill>
              <a:srgbClr val="E5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280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1280160"/>
            <a:ext cx="868680" cy="274320"/>
          </a:xfrm>
          <a:prstGeom prst="rect">
            <a:avLst/>
          </a:prstGeom>
          <a:solidFill>
            <a:srgbClr val="F5F5F7"/>
          </a:solidFill>
          <a:ln w="6350">
            <a:solidFill>
              <a:srgbClr val="E5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280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1280160"/>
            <a:ext cx="868680" cy="274320"/>
          </a:xfrm>
          <a:prstGeom prst="rect">
            <a:avLst/>
          </a:prstGeom>
          <a:solidFill>
            <a:srgbClr val="F5F5F7"/>
          </a:solidFill>
          <a:ln w="6350">
            <a:solidFill>
              <a:srgbClr val="E5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280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280160"/>
            <a:ext cx="868680" cy="274320"/>
          </a:xfrm>
          <a:prstGeom prst="rect">
            <a:avLst/>
          </a:prstGeom>
          <a:solidFill>
            <a:srgbClr val="F5F5F7"/>
          </a:solidFill>
          <a:ln w="6350">
            <a:solidFill>
              <a:srgbClr val="E5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280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1645920"/>
            <a:ext cx="868680" cy="292608"/>
          </a:xfrm>
          <a:prstGeom prst="rect">
            <a:avLst/>
          </a:prstGeom>
          <a:solidFill>
            <a:srgbClr val="FF950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16459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보고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08760" y="2029968"/>
            <a:ext cx="1737360" cy="292608"/>
          </a:xfrm>
          <a:prstGeom prst="rect">
            <a:avLst/>
          </a:prstGeom>
          <a:solidFill>
            <a:srgbClr val="0071E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508760" y="20299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1단계: 기반 구축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414016"/>
            <a:ext cx="1737360" cy="292608"/>
          </a:xfrm>
          <a:prstGeom prst="rect">
            <a:avLst/>
          </a:prstGeom>
          <a:solidFill>
            <a:srgbClr val="34C75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46120" y="24140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2단계: 핵심 업무 개발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2798064"/>
            <a:ext cx="1737360" cy="292608"/>
          </a:xfrm>
          <a:prstGeom prst="rect">
            <a:avLst/>
          </a:prstGeom>
          <a:solidFill>
            <a:srgbClr val="8944A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83480" y="27980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3단계: 서비스 연동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3182112"/>
            <a:ext cx="868680" cy="292608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20840" y="318211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4단계: 단계별 오픈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89520" y="3566160"/>
            <a:ext cx="868680" cy="292608"/>
          </a:xfrm>
          <a:prstGeom prst="rect">
            <a:avLst/>
          </a:prstGeom>
          <a:solidFill>
            <a:srgbClr val="63636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89520" y="35661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5단계: 안정화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657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총 개발 소요: 약 20~25주 (4~5개월)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023360"/>
            <a:ext cx="8046720" cy="2926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0233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현재 진행 상황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152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8A3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인프라 및 도메인 확보 완료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8A3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5개 시스템 681개+ 코드 전수 분석 완료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152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8A3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4단계 업무 프로세스 설계 완료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8A3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프로토타입 V8 (핵심 화면 전환 약 75%)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8A3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시스템 호환 전략 확정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8A3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개발팀 주 1회 미팅 정례화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요청 및 향후 계획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solidFill>
            <a:srgbClr val="0071E3">
              <a:alpha val="1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프로젝트 추진 승인 요청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5월 착수를 목표로, CMS 고도화 프로젝트의 추진을 승인해 주시기 바랍니다.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23774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834640"/>
            <a:ext cx="2377440" cy="4572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5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단계별 진행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기존 시스템 운영 영향 없이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단계별 검증과 부분 오픈으로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리스크 최소화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834640"/>
            <a:ext cx="23774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834640"/>
            <a:ext cx="2377440" cy="4572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승인 후 즉시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1단계 기반 구축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상세 기획서 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마이그레이션 계획 수립 보고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834640"/>
            <a:ext cx="23774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834640"/>
            <a:ext cx="2377440" cy="45720"/>
          </a:xfrm>
          <a:prstGeom prst="rect">
            <a:avLst/>
          </a:prstGeom>
          <a:solidFill>
            <a:srgbClr val="8944AB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44A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원칙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콘텐츠 팀은 콘텐츠에만 집중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시스템 관리 효율화를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동시에 실현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"콘텐츠는 CMS 하나에서, 서비스 연결은 클릭 한 번으로"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 고도화 — 콘텐츠 관리 업무 환경 개선 보고서</dc:title>
  <dc:subject>PptxGenJS Presentation</dc:subject>
  <dc:creator>Shawn (김상철)</dc:creator>
  <cp:lastModifiedBy>Shawn (김상철)</cp:lastModifiedBy>
  <cp:revision>1</cp:revision>
  <dcterms:created xsi:type="dcterms:W3CDTF">2026-04-17T04:56:17Z</dcterms:created>
  <dcterms:modified xsi:type="dcterms:W3CDTF">2026-04-17T04:56:17Z</dcterms:modified>
</cp:coreProperties>
</file>